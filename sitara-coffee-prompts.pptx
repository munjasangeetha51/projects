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080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804"/>
          </a:solidFill>
          <a:ln w="12700">
            <a:solidFill>
              <a:srgbClr val="0C080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B07D3A"/>
          </a:solidFill>
          <a:ln w="12700">
            <a:solidFill>
              <a:srgbClr val="B07D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2E1A0A"/>
          </a:solidFill>
          <a:ln w="12700">
            <a:solidFill>
              <a:srgbClr val="2E1A0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0" y="128016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☕</a:t>
            </a:r>
            <a:endParaRPr lang="en-US" sz="8000" dirty="0"/>
          </a:p>
        </p:txBody>
      </p:sp>
      <p:sp>
        <p:nvSpPr>
          <p:cNvPr id="6" name="Shape 4"/>
          <p:cNvSpPr/>
          <p:nvPr/>
        </p:nvSpPr>
        <p:spPr>
          <a:xfrm>
            <a:off x="7406640" y="228600"/>
            <a:ext cx="1097280" cy="1097280"/>
          </a:xfrm>
          <a:prstGeom prst="ellipse">
            <a:avLst/>
          </a:prstGeom>
          <a:solidFill>
            <a:srgbClr val="B07D3A"/>
          </a:solidFill>
          <a:ln w="12700">
            <a:solidFill>
              <a:srgbClr val="B07D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06640" y="256032"/>
            <a:ext cx="109728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C0804"/>
                </a:solidFill>
              </a:rPr>
              <a:t>EST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C0804"/>
                </a:solidFill>
              </a:rPr>
              <a:t>2018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82296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600" kern="0" dirty="0">
                <a:solidFill>
                  <a:srgbClr val="B07D3A"/>
                </a:solidFill>
              </a:rPr>
              <a:t>PROMPT DOCUMENTATION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" y="1188720"/>
            <a:ext cx="5943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6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Sitara Coffee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411480" y="214884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rgbClr val="C99A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 Prompts Used to Generate the Website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11480" y="278892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8A7660"/>
                </a:solidFill>
              </a:rPr>
              <a:t>A complete record of every conversation prompt that produced the</a:t>
            </a:r>
            <a:endParaRPr lang="en-US" sz="12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8A7660"/>
                </a:solidFill>
              </a:rPr>
              <a:t>Sitara Coffee website — from the initial idea to the full ordering flow.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2E1A0A"/>
          </a:solidFill>
          <a:ln w="12700">
            <a:solidFill>
              <a:srgbClr val="2E1A0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4754880"/>
            <a:ext cx="859536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8A7660"/>
                </a:solidFill>
              </a:rPr>
              <a:t>Sitara Coffee, Chennai  ·  Est. 2018  ·  Where Every Cup Tells a Story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2E1A0A"/>
          </a:solidFill>
          <a:ln w="12700">
            <a:solidFill>
              <a:srgbClr val="2E1A0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B07D3A"/>
          </a:solidFill>
          <a:ln w="12700">
            <a:solidFill>
              <a:srgbClr val="B07D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0"/>
            <a:ext cx="2651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000000"/>
                </a:solidFill>
              </a:rPr>
              <a:t>☕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274320" y="182880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i="1" dirty="0">
                <a:solidFill>
                  <a:srgbClr val="C99A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Contents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74320" y="24231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8A7660"/>
                </a:solidFill>
              </a:rPr>
              <a:t>7 prompts  ·  8 slides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457200"/>
            <a:ext cx="530352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8DF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474720" y="457200"/>
            <a:ext cx="457200" cy="585216"/>
          </a:xfrm>
          <a:prstGeom prst="rect">
            <a:avLst/>
          </a:prstGeom>
          <a:solidFill>
            <a:srgbClr val="B07D3A"/>
          </a:solidFill>
          <a:ln w="12700">
            <a:solidFill>
              <a:srgbClr val="B07D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0" y="457200"/>
            <a:ext cx="457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C0804"/>
                </a:solidFill>
              </a:rPr>
              <a:t>01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005072" y="457200"/>
            <a:ext cx="47000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C0804"/>
                </a:solidFill>
              </a:rPr>
              <a:t>Initial Website Request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474720" y="1161288"/>
            <a:ext cx="530352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8DF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74720" y="1161288"/>
            <a:ext cx="457200" cy="585216"/>
          </a:xfrm>
          <a:prstGeom prst="rect">
            <a:avLst/>
          </a:prstGeom>
          <a:solidFill>
            <a:srgbClr val="B07D3A"/>
          </a:solidFill>
          <a:ln w="12700">
            <a:solidFill>
              <a:srgbClr val="B07D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0" y="1161288"/>
            <a:ext cx="457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C0804"/>
                </a:solidFill>
              </a:rPr>
              <a:t>02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005072" y="1161288"/>
            <a:ext cx="47000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C0804"/>
                </a:solidFill>
              </a:rPr>
              <a:t>Separate Files &amp; Folders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474720" y="1865376"/>
            <a:ext cx="530352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8DF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474720" y="1865376"/>
            <a:ext cx="457200" cy="585216"/>
          </a:xfrm>
          <a:prstGeom prst="rect">
            <a:avLst/>
          </a:prstGeom>
          <a:solidFill>
            <a:srgbClr val="B07D3A"/>
          </a:solidFill>
          <a:ln w="12700">
            <a:solidFill>
              <a:srgbClr val="B07D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0" y="1865376"/>
            <a:ext cx="457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C0804"/>
                </a:solidFill>
              </a:rPr>
              <a:t>03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005072" y="1865376"/>
            <a:ext cx="47000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C0804"/>
                </a:solidFill>
              </a:rPr>
              <a:t>Cart + Payment Methods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474720" y="2569464"/>
            <a:ext cx="530352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8DF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474720" y="2569464"/>
            <a:ext cx="457200" cy="585216"/>
          </a:xfrm>
          <a:prstGeom prst="rect">
            <a:avLst/>
          </a:prstGeom>
          <a:solidFill>
            <a:srgbClr val="B07D3A"/>
          </a:solidFill>
          <a:ln w="12700">
            <a:solidFill>
              <a:srgbClr val="B07D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0" y="2569464"/>
            <a:ext cx="457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C0804"/>
                </a:solidFill>
              </a:rPr>
              <a:t>04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005072" y="2569464"/>
            <a:ext cx="47000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C0804"/>
                </a:solidFill>
              </a:rPr>
              <a:t>Full User Flow (Register → Thank You)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474720" y="3273552"/>
            <a:ext cx="530352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8DF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474720" y="3273552"/>
            <a:ext cx="457200" cy="585216"/>
          </a:xfrm>
          <a:prstGeom prst="rect">
            <a:avLst/>
          </a:prstGeom>
          <a:solidFill>
            <a:srgbClr val="B07D3A"/>
          </a:solidFill>
          <a:ln w="12700">
            <a:solidFill>
              <a:srgbClr val="B07D3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0" y="3273552"/>
            <a:ext cx="457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C0804"/>
                </a:solidFill>
              </a:rPr>
              <a:t>05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005072" y="3273552"/>
            <a:ext cx="47000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C0804"/>
                </a:solidFill>
              </a:rPr>
              <a:t>Landing Page (Story / Menu / Experience / Visit)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474720" y="3977640"/>
            <a:ext cx="530352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8DF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474720" y="3977640"/>
            <a:ext cx="457200" cy="585216"/>
          </a:xfrm>
          <a:prstGeom prst="rect">
            <a:avLst/>
          </a:prstGeom>
          <a:solidFill>
            <a:srgbClr val="B07D3A"/>
          </a:solidFill>
          <a:ln w="12700">
            <a:solidFill>
              <a:srgbClr val="B07D3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74720" y="3977640"/>
            <a:ext cx="457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C0804"/>
                </a:solidFill>
              </a:rPr>
              <a:t>06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005072" y="3977640"/>
            <a:ext cx="47000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C0804"/>
                </a:solidFill>
              </a:rPr>
              <a:t>Prompt Documentation (This Deck)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080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B07D3A"/>
          </a:solidFill>
          <a:ln w="12700">
            <a:solidFill>
              <a:srgbClr val="B07D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E1A0A"/>
          </a:solidFill>
          <a:ln w="12700">
            <a:solidFill>
              <a:srgbClr val="2E1A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45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0" kern="0" dirty="0">
                <a:solidFill>
                  <a:srgbClr val="B07D3A"/>
                </a:solidFill>
              </a:rPr>
              <a:t>PROMPT 01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20040" y="411480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6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Initial Website Request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143000"/>
            <a:ext cx="8503920" cy="1051560"/>
          </a:xfrm>
          <a:prstGeom prst="rect">
            <a:avLst/>
          </a:prstGeom>
          <a:solidFill>
            <a:srgbClr val="2E1A0A"/>
          </a:solidFill>
          <a:ln w="12700">
            <a:solidFill>
              <a:srgbClr val="B07D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43000"/>
            <a:ext cx="64008" cy="1051560"/>
          </a:xfrm>
          <a:prstGeom prst="rect">
            <a:avLst/>
          </a:prstGeom>
          <a:solidFill>
            <a:srgbClr val="B07D3A"/>
          </a:solidFill>
          <a:ln w="12700">
            <a:solidFill>
              <a:srgbClr val="B07D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170432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i="1" dirty="0">
                <a:solidFill>
                  <a:srgbClr val="E8C8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"sitara coffee website pages login to exit pages like thankyou page"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20040" y="2377440"/>
            <a:ext cx="2743200" cy="987552"/>
          </a:xfrm>
          <a:prstGeom prst="rect">
            <a:avLst/>
          </a:prstGeom>
          <a:solidFill>
            <a:srgbClr val="2E1A0A"/>
          </a:solidFill>
          <a:ln w="12700">
            <a:solidFill>
              <a:srgbClr val="3E251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0040" y="2423160"/>
            <a:ext cx="6400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🏠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60120" y="246888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9A52"/>
                </a:solidFill>
              </a:rPr>
              <a:t>Home Page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60120" y="2798064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7660"/>
                </a:solidFill>
              </a:rPr>
              <a:t>Hero section, stats bar, CTAs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18688" y="2377440"/>
            <a:ext cx="2743200" cy="987552"/>
          </a:xfrm>
          <a:prstGeom prst="rect">
            <a:avLst/>
          </a:prstGeom>
          <a:solidFill>
            <a:srgbClr val="2E1A0A"/>
          </a:solidFill>
          <a:ln w="12700">
            <a:solidFill>
              <a:srgbClr val="3E251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218688" y="2423160"/>
            <a:ext cx="6400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☕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858768" y="246888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9A52"/>
                </a:solidFill>
              </a:rPr>
              <a:t>Menu Page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858768" y="2798064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7660"/>
                </a:solidFill>
              </a:rPr>
              <a:t>Filterable food/drink cards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17336" y="2377440"/>
            <a:ext cx="2743200" cy="987552"/>
          </a:xfrm>
          <a:prstGeom prst="rect">
            <a:avLst/>
          </a:prstGeom>
          <a:solidFill>
            <a:srgbClr val="2E1A0A"/>
          </a:solidFill>
          <a:ln w="12700">
            <a:solidFill>
              <a:srgbClr val="3E251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117336" y="2423160"/>
            <a:ext cx="6400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757416" y="246888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9A52"/>
                </a:solidFill>
              </a:rPr>
              <a:t>Order Page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757416" y="2798064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7660"/>
                </a:solidFill>
              </a:rPr>
              <a:t>Form with order summary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3493008"/>
            <a:ext cx="2743200" cy="987552"/>
          </a:xfrm>
          <a:prstGeom prst="rect">
            <a:avLst/>
          </a:prstGeom>
          <a:solidFill>
            <a:srgbClr val="2E1A0A"/>
          </a:solidFill>
          <a:ln w="12700">
            <a:solidFill>
              <a:srgbClr val="3E251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20040" y="3538728"/>
            <a:ext cx="6400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🔐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60120" y="358444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9A52"/>
                </a:solidFill>
              </a:rPr>
              <a:t>Login / Signup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60120" y="3913632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7660"/>
                </a:solidFill>
              </a:rPr>
              <a:t>Auth forms with toggle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18688" y="3493008"/>
            <a:ext cx="2743200" cy="987552"/>
          </a:xfrm>
          <a:prstGeom prst="rect">
            <a:avLst/>
          </a:prstGeom>
          <a:solidFill>
            <a:srgbClr val="2E1A0A"/>
          </a:solidFill>
          <a:ln w="12700">
            <a:solidFill>
              <a:srgbClr val="3E251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218688" y="3538728"/>
            <a:ext cx="6400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🌿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858768" y="358444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9A52"/>
                </a:solidFill>
              </a:rPr>
              <a:t>About Page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858768" y="3913632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7660"/>
                </a:solidFill>
              </a:rPr>
              <a:t>Story, values, tiles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17336" y="3493008"/>
            <a:ext cx="2743200" cy="987552"/>
          </a:xfrm>
          <a:prstGeom prst="rect">
            <a:avLst/>
          </a:prstGeom>
          <a:solidFill>
            <a:srgbClr val="2E1A0A"/>
          </a:solidFill>
          <a:ln w="12700">
            <a:solidFill>
              <a:srgbClr val="3E251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117336" y="3538728"/>
            <a:ext cx="6400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🎉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6757416" y="358444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9A52"/>
                </a:solidFill>
              </a:rPr>
              <a:t>Thank You Page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757416" y="3913632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7660"/>
                </a:solidFill>
              </a:rPr>
              <a:t>Order ID + confetti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2E1A0A"/>
          </a:solidFill>
          <a:ln w="12700">
            <a:solidFill>
              <a:srgbClr val="2E1A0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" y="4864608"/>
            <a:ext cx="8595360" cy="278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8A7660"/>
                </a:solidFill>
              </a:rPr>
              <a:t>Sitara Coffee · Prompt Documentation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5C3215"/>
          </a:solidFill>
          <a:ln w="12700">
            <a:solidFill>
              <a:srgbClr val="5C321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B07D3A"/>
          </a:solidFill>
          <a:ln w="12700">
            <a:solidFill>
              <a:srgbClr val="B07D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37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0" kern="0" dirty="0">
                <a:solidFill>
                  <a:srgbClr val="E8C878"/>
                </a:solidFill>
              </a:rPr>
              <a:t>PROMPT 02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20040" y="384048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6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Separate Files &amp; Folder Structure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320040" y="1143000"/>
            <a:ext cx="8503920" cy="658368"/>
          </a:xfrm>
          <a:prstGeom prst="rect">
            <a:avLst/>
          </a:prstGeom>
          <a:solidFill>
            <a:srgbClr val="2E1A0A"/>
          </a:solidFill>
          <a:ln w="12700">
            <a:solidFill>
              <a:srgbClr val="B07D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43000"/>
            <a:ext cx="64008" cy="658368"/>
          </a:xfrm>
          <a:prstGeom prst="rect">
            <a:avLst/>
          </a:prstGeom>
          <a:solidFill>
            <a:srgbClr val="B07D3A"/>
          </a:solidFill>
          <a:ln w="12700">
            <a:solidFill>
              <a:srgbClr val="B07D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17957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B07D3A"/>
                </a:solidFill>
              </a:rPr>
              <a:t>FIRST PROMPT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02920" y="1399032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8C8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"folders"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0040" y="1920240"/>
            <a:ext cx="8503920" cy="658368"/>
          </a:xfrm>
          <a:prstGeom prst="rect">
            <a:avLst/>
          </a:prstGeom>
          <a:solidFill>
            <a:srgbClr val="2E1A0A"/>
          </a:solidFill>
          <a:ln w="12700">
            <a:solidFill>
              <a:srgbClr val="B07D3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1920240"/>
            <a:ext cx="64008" cy="658368"/>
          </a:xfrm>
          <a:prstGeom prst="rect">
            <a:avLst/>
          </a:prstGeom>
          <a:solidFill>
            <a:srgbClr val="B07D3A"/>
          </a:solidFill>
          <a:ln w="12700">
            <a:solidFill>
              <a:srgbClr val="B07D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95681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B07D3A"/>
                </a:solidFill>
              </a:rPr>
              <a:t>SECOND PROMPT (CLARIFICATION)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502920" y="2176272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8C8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"files above website"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20040" y="281635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B07D3A"/>
                </a:solidFill>
              </a:rPr>
              <a:t>GENERATED FILE STRUCTURE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20040" y="3127248"/>
            <a:ext cx="8503920" cy="237744"/>
          </a:xfrm>
          <a:prstGeom prst="rect">
            <a:avLst/>
          </a:prstGeom>
          <a:solidFill>
            <a:srgbClr val="F0E8D8"/>
          </a:solidFill>
          <a:ln w="12700">
            <a:solidFill>
              <a:srgbClr val="E0D4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12724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3215"/>
                </a:solidFill>
              </a:rPr>
              <a:t>📁  sitara-coffee/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206240" y="3127248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660"/>
                </a:solidFill>
              </a:rPr>
              <a:t>Root project folder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02920" y="3364992"/>
            <a:ext cx="832104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0D4C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336499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3215"/>
                </a:solidFill>
              </a:rPr>
              <a:t>📄  index.html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206240" y="3364992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660"/>
                </a:solidFill>
              </a:rPr>
              <a:t>Main entry point — all 6 pages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02920" y="3602736"/>
            <a:ext cx="8321040" cy="237744"/>
          </a:xfrm>
          <a:prstGeom prst="rect">
            <a:avLst/>
          </a:prstGeom>
          <a:solidFill>
            <a:srgbClr val="F0E8D8"/>
          </a:solidFill>
          <a:ln w="12700">
            <a:solidFill>
              <a:srgbClr val="E0D4C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60273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3215"/>
                </a:solidFill>
              </a:rPr>
              <a:t>📁  css/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85800" y="3840480"/>
            <a:ext cx="813816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0D4C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384048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3215"/>
                </a:solidFill>
              </a:rPr>
              <a:t>📄  style.css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206240" y="3840480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660"/>
                </a:solidFill>
              </a:rPr>
              <a:t>Global styles, nav, buttons, footer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85800" y="4078224"/>
            <a:ext cx="8138160" cy="237744"/>
          </a:xfrm>
          <a:prstGeom prst="rect">
            <a:avLst/>
          </a:prstGeom>
          <a:solidFill>
            <a:srgbClr val="F0E8D8"/>
          </a:solidFill>
          <a:ln w="12700">
            <a:solidFill>
              <a:srgbClr val="E0D4C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407822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3215"/>
                </a:solidFill>
              </a:rPr>
              <a:t>📄  home.css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206240" y="4078224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660"/>
                </a:solidFill>
              </a:rPr>
              <a:t>Hero, stats bar, animations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85800" y="4315968"/>
            <a:ext cx="813816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0D4C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" y="431596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3215"/>
                </a:solidFill>
              </a:rPr>
              <a:t>📄  pages.css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206240" y="4315968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660"/>
                </a:solidFill>
              </a:rPr>
              <a:t>Menu, Order, Login, About, Thank You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02920" y="4553712"/>
            <a:ext cx="8321040" cy="237744"/>
          </a:xfrm>
          <a:prstGeom prst="rect">
            <a:avLst/>
          </a:prstGeom>
          <a:solidFill>
            <a:srgbClr val="F0E8D8"/>
          </a:solidFill>
          <a:ln w="12700">
            <a:solidFill>
              <a:srgbClr val="E0D4C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4360" y="455371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3215"/>
                </a:solidFill>
              </a:rPr>
              <a:t>📁  js/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85800" y="4791456"/>
            <a:ext cx="813816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0D4C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77240" y="479145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3215"/>
                </a:solidFill>
              </a:rPr>
              <a:t>📄  menu-data.js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206240" y="4791456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660"/>
                </a:solidFill>
              </a:rPr>
              <a:t>All menu items data array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85800" y="5029200"/>
            <a:ext cx="8138160" cy="237744"/>
          </a:xfrm>
          <a:prstGeom prst="rect">
            <a:avLst/>
          </a:prstGeom>
          <a:solidFill>
            <a:srgbClr val="F0E8D8"/>
          </a:solidFill>
          <a:ln w="12700">
            <a:solidFill>
              <a:srgbClr val="E0D4C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77240" y="502920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3215"/>
                </a:solidFill>
              </a:rPr>
              <a:t>📄  app.js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206240" y="5029200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660"/>
                </a:solidFill>
              </a:rPr>
              <a:t>Routing, logic, confetti, toasts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2E1A0A"/>
          </a:solidFill>
          <a:ln w="12700">
            <a:solidFill>
              <a:srgbClr val="2E1A0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74320" y="4864608"/>
            <a:ext cx="8595360" cy="278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8A7660"/>
                </a:solidFill>
              </a:rPr>
              <a:t>Sitara Coffee · Prompt Documentation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080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E1A0A"/>
          </a:solidFill>
          <a:ln w="12700">
            <a:solidFill>
              <a:srgbClr val="2E1A0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B07D3A"/>
          </a:solidFill>
          <a:ln w="12700">
            <a:solidFill>
              <a:srgbClr val="B07D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37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0" kern="0" dirty="0">
                <a:solidFill>
                  <a:srgbClr val="B07D3A"/>
                </a:solidFill>
              </a:rPr>
              <a:t>PROMPT 03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20040" y="384048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6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Add Cart List &amp; Payment Methods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8503920" cy="685800"/>
          </a:xfrm>
          <a:prstGeom prst="rect">
            <a:avLst/>
          </a:prstGeom>
          <a:solidFill>
            <a:srgbClr val="2E1A0A"/>
          </a:solidFill>
          <a:ln w="12700">
            <a:solidFill>
              <a:srgbClr val="B07D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097280"/>
            <a:ext cx="64008" cy="685800"/>
          </a:xfrm>
          <a:prstGeom prst="rect">
            <a:avLst/>
          </a:prstGeom>
          <a:solidFill>
            <a:srgbClr val="B07D3A"/>
          </a:solidFill>
          <a:ln w="12700">
            <a:solidFill>
              <a:srgbClr val="B07D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124712"/>
            <a:ext cx="822960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8C8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"add cart list and payment method mode also"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20040" y="1920240"/>
            <a:ext cx="4160520" cy="347472"/>
          </a:xfrm>
          <a:prstGeom prst="rect">
            <a:avLst/>
          </a:prstGeom>
          <a:solidFill>
            <a:srgbClr val="5C3215"/>
          </a:solidFill>
          <a:ln w="12700">
            <a:solidFill>
              <a:srgbClr val="5C321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92024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E8C878"/>
                </a:solidFill>
              </a:rPr>
              <a:t>🛒  CART SYSTEM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2267712"/>
            <a:ext cx="4160520" cy="402336"/>
          </a:xfrm>
          <a:prstGeom prst="rect">
            <a:avLst/>
          </a:prstGeom>
          <a:solidFill>
            <a:srgbClr val="2E1A0A"/>
          </a:solidFill>
          <a:ln w="12700">
            <a:solidFill>
              <a:srgbClr val="3A201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2860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6EFE0"/>
                </a:solidFill>
              </a:rPr>
              <a:t>🛒  Cart icon in nav with live badge count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0040" y="2697480"/>
            <a:ext cx="4160520" cy="402336"/>
          </a:xfrm>
          <a:prstGeom prst="rect">
            <a:avLst/>
          </a:prstGeom>
          <a:solidFill>
            <a:srgbClr val="241508"/>
          </a:solidFill>
          <a:ln w="12700">
            <a:solidFill>
              <a:srgbClr val="3A201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71576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6EFE0"/>
                </a:solidFill>
              </a:rPr>
              <a:t>↔  Slide-in cart drawer from the right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" y="3127248"/>
            <a:ext cx="4160520" cy="402336"/>
          </a:xfrm>
          <a:prstGeom prst="rect">
            <a:avLst/>
          </a:prstGeom>
          <a:solidFill>
            <a:srgbClr val="2E1A0A"/>
          </a:solidFill>
          <a:ln w="12700">
            <a:solidFill>
              <a:srgbClr val="3A201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14553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6EFE0"/>
                </a:solidFill>
              </a:rPr>
              <a:t>±  Quantity controls (+ / −) per item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0040" y="3557016"/>
            <a:ext cx="4160520" cy="402336"/>
          </a:xfrm>
          <a:prstGeom prst="rect">
            <a:avLst/>
          </a:prstGeom>
          <a:solidFill>
            <a:srgbClr val="241508"/>
          </a:solidFill>
          <a:ln w="12700">
            <a:solidFill>
              <a:srgbClr val="3A201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575304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6EFE0"/>
                </a:solidFill>
              </a:rPr>
              <a:t>🗑  Remove individual items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0040" y="3986784"/>
            <a:ext cx="4160520" cy="402336"/>
          </a:xfrm>
          <a:prstGeom prst="rect">
            <a:avLst/>
          </a:prstGeom>
          <a:solidFill>
            <a:srgbClr val="2E1A0A"/>
          </a:solidFill>
          <a:ln w="12700">
            <a:solidFill>
              <a:srgbClr val="3A201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00507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6EFE0"/>
                </a:solidFill>
              </a:rPr>
              <a:t>💰  Live subtotal, tax &amp; grand total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0040" y="4416552"/>
            <a:ext cx="4160520" cy="402336"/>
          </a:xfrm>
          <a:prstGeom prst="rect">
            <a:avLst/>
          </a:prstGeom>
          <a:solidFill>
            <a:srgbClr val="241508"/>
          </a:solidFill>
          <a:ln w="12700">
            <a:solidFill>
              <a:srgbClr val="3A201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4348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6EFE0"/>
                </a:solidFill>
              </a:rPr>
              <a:t>→  Checkout button flows to order page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663440" y="1920240"/>
            <a:ext cx="4160520" cy="347472"/>
          </a:xfrm>
          <a:prstGeom prst="rect">
            <a:avLst/>
          </a:prstGeom>
          <a:solidFill>
            <a:srgbClr val="5C3215"/>
          </a:solidFill>
          <a:ln w="12700">
            <a:solidFill>
              <a:srgbClr val="5C321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63440" y="192024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E8C878"/>
                </a:solidFill>
              </a:rPr>
              <a:t>💳  PAYMENT METHODS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63440" y="2267712"/>
            <a:ext cx="4160520" cy="402336"/>
          </a:xfrm>
          <a:prstGeom prst="rect">
            <a:avLst/>
          </a:prstGeom>
          <a:solidFill>
            <a:srgbClr val="2E1A0A"/>
          </a:solidFill>
          <a:ln w="12700">
            <a:solidFill>
              <a:srgbClr val="3A201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22860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6EFE0"/>
                </a:solidFill>
              </a:rPr>
              <a:t>💳  Credit / Debit Card (number format, CVV, expiry)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663440" y="2697480"/>
            <a:ext cx="4160520" cy="402336"/>
          </a:xfrm>
          <a:prstGeom prst="rect">
            <a:avLst/>
          </a:prstGeom>
          <a:solidFill>
            <a:srgbClr val="241508"/>
          </a:solidFill>
          <a:ln w="12700">
            <a:solidFill>
              <a:srgbClr val="3A201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0600" y="271576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6EFE0"/>
                </a:solidFill>
              </a:rPr>
              <a:t>📱  UPI — ID entry or app picker (GPay, PhonePe…)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663440" y="3127248"/>
            <a:ext cx="4160520" cy="402336"/>
          </a:xfrm>
          <a:prstGeom prst="rect">
            <a:avLst/>
          </a:prstGeom>
          <a:solidFill>
            <a:srgbClr val="2E1A0A"/>
          </a:solidFill>
          <a:ln w="12700">
            <a:solidFill>
              <a:srgbClr val="3A201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00600" y="314553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6EFE0"/>
                </a:solidFill>
              </a:rPr>
              <a:t>🏦  Net Banking — bank dropdown selector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663440" y="3557016"/>
            <a:ext cx="4160520" cy="402336"/>
          </a:xfrm>
          <a:prstGeom prst="rect">
            <a:avLst/>
          </a:prstGeom>
          <a:solidFill>
            <a:srgbClr val="241508"/>
          </a:solidFill>
          <a:ln w="12700">
            <a:solidFill>
              <a:srgbClr val="3A201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0600" y="3575304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6EFE0"/>
                </a:solidFill>
              </a:rPr>
              <a:t>💵  Cash on Delivery — confirmation message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663440" y="3986784"/>
            <a:ext cx="4160520" cy="402336"/>
          </a:xfrm>
          <a:prstGeom prst="rect">
            <a:avLst/>
          </a:prstGeom>
          <a:solidFill>
            <a:srgbClr val="2E1A0A"/>
          </a:solidFill>
          <a:ln w="12700">
            <a:solidFill>
              <a:srgbClr val="3A201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00600" y="400507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6EFE0"/>
                </a:solidFill>
              </a:rPr>
              <a:t>✅  Full validation before placing order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663440" y="4416552"/>
            <a:ext cx="4160520" cy="402336"/>
          </a:xfrm>
          <a:prstGeom prst="rect">
            <a:avLst/>
          </a:prstGeom>
          <a:solidFill>
            <a:srgbClr val="241508"/>
          </a:solidFill>
          <a:ln w="12700">
            <a:solidFill>
              <a:srgbClr val="3A201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00600" y="44348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6EFE0"/>
                </a:solidFill>
              </a:rPr>
              <a:t>🔁  Payment method syncs to Thank You receipt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2E1A0A"/>
          </a:solidFill>
          <a:ln w="12700">
            <a:solidFill>
              <a:srgbClr val="2E1A0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4320" y="4864608"/>
            <a:ext cx="8595360" cy="278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8A7660"/>
                </a:solidFill>
              </a:rPr>
              <a:t>Sitara Coffee · Prompt Documentation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5C3215"/>
          </a:solidFill>
          <a:ln w="12700">
            <a:solidFill>
              <a:srgbClr val="5C321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B07D3A"/>
          </a:solidFill>
          <a:ln w="12700">
            <a:solidFill>
              <a:srgbClr val="B07D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37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0" kern="0" dirty="0">
                <a:solidFill>
                  <a:srgbClr val="E8C878"/>
                </a:solidFill>
              </a:rPr>
              <a:t>PROMPT 04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20040" y="384048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6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Complete End-to-End User Flow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320040" y="1115568"/>
            <a:ext cx="8503920" cy="658368"/>
          </a:xfrm>
          <a:prstGeom prst="rect">
            <a:avLst/>
          </a:prstGeom>
          <a:solidFill>
            <a:srgbClr val="2E1A0A"/>
          </a:solidFill>
          <a:ln w="12700">
            <a:solidFill>
              <a:srgbClr val="B07D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15568"/>
            <a:ext cx="64008" cy="658368"/>
          </a:xfrm>
          <a:prstGeom prst="rect">
            <a:avLst/>
          </a:prstGeom>
          <a:solidFill>
            <a:srgbClr val="B07D3A"/>
          </a:solidFill>
          <a:ln w="12700">
            <a:solidFill>
              <a:srgbClr val="B07D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143000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i="1" dirty="0">
                <a:solidFill>
                  <a:srgbClr val="E8C8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"register , login , Menu → Add to cart → Open cart → Checkout → Fill details + pick payment → Place order → Thank You page with order number and payment method shown."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1920240"/>
            <a:ext cx="28346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4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29768" y="2029968"/>
            <a:ext cx="384048" cy="384048"/>
          </a:xfrm>
          <a:prstGeom prst="ellipse">
            <a:avLst/>
          </a:prstGeom>
          <a:solidFill>
            <a:srgbClr val="B07D3A"/>
          </a:solidFill>
          <a:ln w="12700">
            <a:solidFill>
              <a:srgbClr val="B07D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9768" y="2029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C0804"/>
                </a:solidFill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86968" y="199339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📝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86968" y="2404872"/>
            <a:ext cx="2176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3215"/>
                </a:solidFill>
              </a:rPr>
              <a:t>Register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29768" y="2679192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8A7660"/>
                </a:solidFill>
              </a:rPr>
              <a:t>Name, email, phone, password + strength meter. Google sign-in. Full validation with inline errors.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64408" y="1920240"/>
            <a:ext cx="28346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4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374136" y="2029968"/>
            <a:ext cx="384048" cy="384048"/>
          </a:xfrm>
          <a:prstGeom prst="ellipse">
            <a:avLst/>
          </a:prstGeom>
          <a:solidFill>
            <a:srgbClr val="B07D3A"/>
          </a:solidFill>
          <a:ln w="12700">
            <a:solidFill>
              <a:srgbClr val="B07D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74136" y="2029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C0804"/>
                </a:solidFill>
              </a:rPr>
              <a:t>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831336" y="199339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🔐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831336" y="2404872"/>
            <a:ext cx="2176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3215"/>
                </a:solidFill>
              </a:rPr>
              <a:t>Login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374136" y="2679192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8A7660"/>
                </a:solidFill>
              </a:rPr>
              <a:t>Email/password or Google OAuth. Forgot password. Auto-prefills checkout with user details.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208776" y="1920240"/>
            <a:ext cx="28346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4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318504" y="2029968"/>
            <a:ext cx="384048" cy="384048"/>
          </a:xfrm>
          <a:prstGeom prst="ellipse">
            <a:avLst/>
          </a:prstGeom>
          <a:solidFill>
            <a:srgbClr val="B07D3A"/>
          </a:solidFill>
          <a:ln w="12700">
            <a:solidFill>
              <a:srgbClr val="B07D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18504" y="2029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C0804"/>
                </a:solidFill>
              </a:rPr>
              <a:t>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775704" y="199339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☕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775704" y="2404872"/>
            <a:ext cx="2176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3215"/>
                </a:solidFill>
              </a:rPr>
              <a:t>Menu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318504" y="2679192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8A7660"/>
                </a:solidFill>
              </a:rPr>
              <a:t>13 items (Hot / Cold / Food). Live mini-cart sidebar. Cart badge in nav with item count.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20040" y="3291840"/>
            <a:ext cx="28346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4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29768" y="3401568"/>
            <a:ext cx="384048" cy="384048"/>
          </a:xfrm>
          <a:prstGeom prst="ellipse">
            <a:avLst/>
          </a:prstGeom>
          <a:solidFill>
            <a:srgbClr val="B07D3A"/>
          </a:solidFill>
          <a:ln w="12700">
            <a:solidFill>
              <a:srgbClr val="B07D3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9768" y="3401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C0804"/>
                </a:solidFill>
              </a:rPr>
              <a:t>4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86968" y="336499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🛒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886968" y="3776472"/>
            <a:ext cx="2176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3215"/>
                </a:solidFill>
              </a:rPr>
              <a:t>Cart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29768" y="4050792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8A7660"/>
                </a:solidFill>
              </a:rPr>
              <a:t>Qty controls, remove items, promo codes (SITARA10, WELCOME50, COFFEE), live totals.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264408" y="3291840"/>
            <a:ext cx="28346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4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374136" y="3401568"/>
            <a:ext cx="384048" cy="384048"/>
          </a:xfrm>
          <a:prstGeom prst="ellipse">
            <a:avLst/>
          </a:prstGeom>
          <a:solidFill>
            <a:srgbClr val="B07D3A"/>
          </a:solidFill>
          <a:ln w="12700">
            <a:solidFill>
              <a:srgbClr val="B07D3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74136" y="3401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C0804"/>
                </a:solidFill>
              </a:rPr>
              <a:t>5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831336" y="336499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💳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3831336" y="3776472"/>
            <a:ext cx="2176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3215"/>
                </a:solidFill>
              </a:rPr>
              <a:t>Checkout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374136" y="4050792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8A7660"/>
                </a:solidFill>
              </a:rPr>
              <a:t>Pre-filled details. 4 payment modes (Card, UPI, Net Banking, COD). Full validation.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208776" y="3291840"/>
            <a:ext cx="28346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4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318504" y="3401568"/>
            <a:ext cx="384048" cy="384048"/>
          </a:xfrm>
          <a:prstGeom prst="ellipse">
            <a:avLst/>
          </a:prstGeom>
          <a:solidFill>
            <a:srgbClr val="B07D3A"/>
          </a:solidFill>
          <a:ln w="12700">
            <a:solidFill>
              <a:srgbClr val="B07D3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18504" y="3401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C0804"/>
                </a:solidFill>
              </a:rPr>
              <a:t>6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775704" y="336499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🎉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6775704" y="3776472"/>
            <a:ext cx="2176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3215"/>
                </a:solidFill>
              </a:rPr>
              <a:t>Thank You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6318504" y="4050792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8A7660"/>
                </a:solidFill>
              </a:rPr>
              <a:t>Confetti, order receipt, order number, payment method shown, 'Order Again' re-adds items.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2E1A0A"/>
          </a:solidFill>
          <a:ln w="12700">
            <a:solidFill>
              <a:srgbClr val="2E1A0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74320" y="4864608"/>
            <a:ext cx="8595360" cy="278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8A7660"/>
                </a:solidFill>
              </a:rPr>
              <a:t>Sitara Coffee · Prompt Documentation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080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E1A0A"/>
          </a:solidFill>
          <a:ln w="12700">
            <a:solidFill>
              <a:srgbClr val="2E1A0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B07D3A"/>
          </a:solidFill>
          <a:ln w="12700">
            <a:solidFill>
              <a:srgbClr val="B07D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37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0" kern="0" dirty="0">
                <a:solidFill>
                  <a:srgbClr val="B07D3A"/>
                </a:solidFill>
              </a:rPr>
              <a:t>PROMPT 05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20040" y="384048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6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 Landing Page with Brand Sections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320040" y="1115568"/>
            <a:ext cx="8503920" cy="1298448"/>
          </a:xfrm>
          <a:prstGeom prst="rect">
            <a:avLst/>
          </a:prstGeom>
          <a:solidFill>
            <a:srgbClr val="2E1A0A"/>
          </a:solidFill>
          <a:ln w="12700">
            <a:solidFill>
              <a:srgbClr val="B07D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15568"/>
            <a:ext cx="64008" cy="1298448"/>
          </a:xfrm>
          <a:prstGeom prst="rect">
            <a:avLst/>
          </a:prstGeom>
          <a:solidFill>
            <a:srgbClr val="B07D3A"/>
          </a:solidFill>
          <a:ln w="12700">
            <a:solidFill>
              <a:srgbClr val="B07D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143000"/>
            <a:ext cx="822960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050" i="1" dirty="0">
                <a:solidFill>
                  <a:srgbClr val="E8C8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"same ok sitara coffee flow but add Sitara Coffee</a:t>
            </a:r>
            <a:endParaRPr lang="en-US" sz="10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050" i="1" dirty="0">
                <a:solidFill>
                  <a:srgbClr val="E8C8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* Story  * Menu  * Experience  * Visit</a:t>
            </a:r>
            <a:endParaRPr lang="en-US" sz="10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050" i="1" dirty="0">
                <a:solidFill>
                  <a:srgbClr val="E8C8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Reserve a Table</a:t>
            </a:r>
            <a:endParaRPr lang="en-US" sz="10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050" i="1" dirty="0">
                <a:solidFill>
                  <a:srgbClr val="E8C8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Est. 2018 · Chennai, India</a:t>
            </a:r>
            <a:endParaRPr lang="en-US" sz="10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050" i="1" dirty="0">
                <a:solidFill>
                  <a:srgbClr val="E8C8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Every Cup Tells a Story</a:t>
            </a:r>
            <a:endParaRPr lang="en-US" sz="10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050" i="1" dirty="0">
                <a:solidFill>
                  <a:srgbClr val="E8C8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Hand-crafted coffees rooted in South Indian tradition, elevated with artisanal precision...</a:t>
            </a:r>
            <a:endParaRPr lang="en-US" sz="10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050" i="1" dirty="0">
                <a:solidFill>
                  <a:srgbClr val="E8C8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Explore Our Menu  Our Story  [Ticker: Single Origin Beans, Cold Brew, Pour Over…]</a:t>
            </a:r>
            <a:endParaRPr lang="en-US" sz="10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050" i="1" dirty="0">
                <a:solidFill>
                  <a:srgbClr val="E8C8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Story — Born from a Passion for Perfect Coffee</a:t>
            </a:r>
            <a:endParaRPr lang="en-US" sz="10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050" i="1" dirty="0">
                <a:solidFill>
                  <a:srgbClr val="E8C8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12+ Coffee Origins · 500+ Daily Cups · 4.9★ Guest Rating"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" y="2578608"/>
            <a:ext cx="2103120" cy="1060704"/>
          </a:xfrm>
          <a:prstGeom prst="rect">
            <a:avLst/>
          </a:prstGeom>
          <a:solidFill>
            <a:srgbClr val="2E1A0A"/>
          </a:solidFill>
          <a:ln w="12700">
            <a:solidFill>
              <a:srgbClr val="3E251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2578608"/>
            <a:ext cx="64008" cy="1060704"/>
          </a:xfrm>
          <a:prstGeom prst="rect">
            <a:avLst/>
          </a:prstGeom>
          <a:solidFill>
            <a:srgbClr val="B07D3A"/>
          </a:solidFill>
          <a:ln w="12700">
            <a:solidFill>
              <a:srgbClr val="B07D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651760"/>
            <a:ext cx="457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🎬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84632" y="3145536"/>
            <a:ext cx="1847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9A52"/>
                </a:solidFill>
              </a:rPr>
              <a:t>Hero Section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4632" y="3364992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7660"/>
                </a:solidFill>
              </a:rPr>
              <a:t>Full-screen dark hero, grain texture, gold glow, est. badge, animated steam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532888" y="2578608"/>
            <a:ext cx="2103120" cy="1060704"/>
          </a:xfrm>
          <a:prstGeom prst="rect">
            <a:avLst/>
          </a:prstGeom>
          <a:solidFill>
            <a:srgbClr val="2E1A0A"/>
          </a:solidFill>
          <a:ln w="12700">
            <a:solidFill>
              <a:srgbClr val="3E251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532888" y="2578608"/>
            <a:ext cx="64008" cy="1060704"/>
          </a:xfrm>
          <a:prstGeom prst="rect">
            <a:avLst/>
          </a:prstGeom>
          <a:solidFill>
            <a:srgbClr val="B07D3A"/>
          </a:solidFill>
          <a:ln w="12700">
            <a:solidFill>
              <a:srgbClr val="B07D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24328" y="2651760"/>
            <a:ext cx="457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📜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697480" y="3145536"/>
            <a:ext cx="1847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9A52"/>
                </a:solidFill>
              </a:rPr>
              <a:t>Ticker / Marquee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697480" y="3364992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7660"/>
                </a:solidFill>
              </a:rPr>
              <a:t>Auto-scrolling strip: Single Origin · Cold Brew · Pour Over · Espresso Bar…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745736" y="2578608"/>
            <a:ext cx="2103120" cy="1060704"/>
          </a:xfrm>
          <a:prstGeom prst="rect">
            <a:avLst/>
          </a:prstGeom>
          <a:solidFill>
            <a:srgbClr val="2E1A0A"/>
          </a:solidFill>
          <a:ln w="12700">
            <a:solidFill>
              <a:srgbClr val="3E251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45736" y="2578608"/>
            <a:ext cx="64008" cy="1060704"/>
          </a:xfrm>
          <a:prstGeom prst="rect">
            <a:avLst/>
          </a:prstGeom>
          <a:solidFill>
            <a:srgbClr val="B07D3A"/>
          </a:solidFill>
          <a:ln w="12700">
            <a:solidFill>
              <a:srgbClr val="B07D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37176" y="2651760"/>
            <a:ext cx="457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📖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910328" y="3145536"/>
            <a:ext cx="1847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9A52"/>
                </a:solidFill>
              </a:rPr>
              <a:t>Story Section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910328" y="3364992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7660"/>
                </a:solidFill>
              </a:rPr>
              <a:t>Two-column layout, Nilgiris sourcing, 4 stat blocks (12+ / 500+ / 4.9★ / 6yr)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958584" y="2578608"/>
            <a:ext cx="2103120" cy="1060704"/>
          </a:xfrm>
          <a:prstGeom prst="rect">
            <a:avLst/>
          </a:prstGeom>
          <a:solidFill>
            <a:srgbClr val="2E1A0A"/>
          </a:solidFill>
          <a:ln w="12700">
            <a:solidFill>
              <a:srgbClr val="3E251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958584" y="2578608"/>
            <a:ext cx="64008" cy="1060704"/>
          </a:xfrm>
          <a:prstGeom prst="rect">
            <a:avLst/>
          </a:prstGeom>
          <a:solidFill>
            <a:srgbClr val="B07D3A"/>
          </a:solidFill>
          <a:ln w="12700">
            <a:solidFill>
              <a:srgbClr val="B07D3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50024" y="2651760"/>
            <a:ext cx="457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☕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123176" y="3145536"/>
            <a:ext cx="1847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9A52"/>
                </a:solidFill>
              </a:rPr>
              <a:t>Menu Preview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123176" y="3364992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7660"/>
                </a:solidFill>
              </a:rPr>
              <a:t>Filterable cards (All/Hot/Cold/Food) with live add-to-cart from landing page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20040" y="3749040"/>
            <a:ext cx="2103120" cy="1060704"/>
          </a:xfrm>
          <a:prstGeom prst="rect">
            <a:avLst/>
          </a:prstGeom>
          <a:solidFill>
            <a:srgbClr val="2E1A0A"/>
          </a:solidFill>
          <a:ln w="12700">
            <a:solidFill>
              <a:srgbClr val="3E251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0040" y="3749040"/>
            <a:ext cx="64008" cy="1060704"/>
          </a:xfrm>
          <a:prstGeom prst="rect">
            <a:avLst/>
          </a:prstGeom>
          <a:solidFill>
            <a:srgbClr val="B07D3A"/>
          </a:solidFill>
          <a:ln w="12700">
            <a:solidFill>
              <a:srgbClr val="B07D3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" y="3822192"/>
            <a:ext cx="457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✨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484632" y="4315968"/>
            <a:ext cx="1847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9A52"/>
                </a:solidFill>
              </a:rPr>
              <a:t>Experience Section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4632" y="4535424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7660"/>
                </a:solidFill>
              </a:rPr>
              <a:t>6 dark tiles: Beans, Live Roasting, Filter Kaapi, Cold Brew Lab, Pastries, Atmosphere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532888" y="3749040"/>
            <a:ext cx="2103120" cy="1060704"/>
          </a:xfrm>
          <a:prstGeom prst="rect">
            <a:avLst/>
          </a:prstGeom>
          <a:solidFill>
            <a:srgbClr val="2E1A0A"/>
          </a:solidFill>
          <a:ln w="12700">
            <a:solidFill>
              <a:srgbClr val="3E251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532888" y="3749040"/>
            <a:ext cx="64008" cy="1060704"/>
          </a:xfrm>
          <a:prstGeom prst="rect">
            <a:avLst/>
          </a:prstGeom>
          <a:solidFill>
            <a:srgbClr val="B07D3A"/>
          </a:solidFill>
          <a:ln w="12700">
            <a:solidFill>
              <a:srgbClr val="B07D3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624328" y="3822192"/>
            <a:ext cx="457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📍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2697480" y="4315968"/>
            <a:ext cx="1847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9A52"/>
                </a:solidFill>
              </a:rPr>
              <a:t>Visit + Reserve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697480" y="4535424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7660"/>
                </a:solidFill>
              </a:rPr>
              <a:t>Address, hours, contact + reservation form with date, time, guest count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745736" y="3749040"/>
            <a:ext cx="6638544" cy="1060704"/>
          </a:xfrm>
          <a:prstGeom prst="rect">
            <a:avLst/>
          </a:prstGeom>
          <a:solidFill>
            <a:srgbClr val="2E1A0A"/>
          </a:solidFill>
          <a:ln w="12700">
            <a:solidFill>
              <a:srgbClr val="3E251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745736" y="3749040"/>
            <a:ext cx="64008" cy="1060704"/>
          </a:xfrm>
          <a:prstGeom prst="rect">
            <a:avLst/>
          </a:prstGeom>
          <a:solidFill>
            <a:srgbClr val="B07D3A"/>
          </a:solidFill>
          <a:ln w="12700">
            <a:solidFill>
              <a:srgbClr val="B07D3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37176" y="3822192"/>
            <a:ext cx="457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🔗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4910328" y="4315968"/>
            <a:ext cx="6382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9A52"/>
                </a:solidFill>
              </a:rPr>
              <a:t>Navigation + Footer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910328" y="4535424"/>
            <a:ext cx="6382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7660"/>
                </a:solidFill>
              </a:rPr>
              <a:t>Story / Menu / Experience / Visit nav links + footer with brand columns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2E1A0A"/>
          </a:solidFill>
          <a:ln w="12700">
            <a:solidFill>
              <a:srgbClr val="2E1A0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74320" y="4864608"/>
            <a:ext cx="8595360" cy="278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8A7660"/>
                </a:solidFill>
              </a:rPr>
              <a:t>Sitara Coffee · Prompt Documentation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5C3215"/>
          </a:solidFill>
          <a:ln w="12700">
            <a:solidFill>
              <a:srgbClr val="5C321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B07D3A"/>
          </a:solidFill>
          <a:ln w="12700">
            <a:solidFill>
              <a:srgbClr val="B07D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37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0" kern="0" dirty="0">
                <a:solidFill>
                  <a:srgbClr val="E8C878"/>
                </a:solidFill>
              </a:rPr>
              <a:t>PROMPT 06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20040" y="384048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6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Prompt Documentation Request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320040" y="1115568"/>
            <a:ext cx="8503920" cy="640080"/>
          </a:xfrm>
          <a:prstGeom prst="rect">
            <a:avLst/>
          </a:prstGeom>
          <a:solidFill>
            <a:srgbClr val="2E1A0A"/>
          </a:solidFill>
          <a:ln w="12700">
            <a:solidFill>
              <a:srgbClr val="B07D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15568"/>
            <a:ext cx="64008" cy="640080"/>
          </a:xfrm>
          <a:prstGeom prst="rect">
            <a:avLst/>
          </a:prstGeom>
          <a:solidFill>
            <a:srgbClr val="B07D3A"/>
          </a:solidFill>
          <a:ln w="12700">
            <a:solidFill>
              <a:srgbClr val="B07D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143000"/>
            <a:ext cx="8229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8C8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"All prompts used to generate the codes (include more slides if required)"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0040" y="190195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B07D3A"/>
                </a:solidFill>
              </a:rPr>
              <a:t>COMPLETE PROMPT SUMMARY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20040" y="2212848"/>
            <a:ext cx="320040" cy="310896"/>
          </a:xfrm>
          <a:prstGeom prst="rect">
            <a:avLst/>
          </a:prstGeom>
          <a:solidFill>
            <a:srgbClr val="5C3215"/>
          </a:solidFill>
          <a:ln w="12700">
            <a:solidFill>
              <a:srgbClr val="D0C0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212848"/>
            <a:ext cx="246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E8C878"/>
                </a:solidFill>
              </a:rPr>
              <a:t>#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40080" y="2212848"/>
            <a:ext cx="1234440" cy="310896"/>
          </a:xfrm>
          <a:prstGeom prst="rect">
            <a:avLst/>
          </a:prstGeom>
          <a:solidFill>
            <a:srgbClr val="5C3215"/>
          </a:solidFill>
          <a:ln w="12700">
            <a:solidFill>
              <a:srgbClr val="D0C0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212848"/>
            <a:ext cx="1161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E8C878"/>
                </a:solidFill>
              </a:rPr>
              <a:t>Prompt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1874520" y="2212848"/>
            <a:ext cx="3657600" cy="310896"/>
          </a:xfrm>
          <a:prstGeom prst="rect">
            <a:avLst/>
          </a:prstGeom>
          <a:solidFill>
            <a:srgbClr val="5C3215"/>
          </a:solidFill>
          <a:ln w="12700">
            <a:solidFill>
              <a:srgbClr val="D0C0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920240" y="2212848"/>
            <a:ext cx="3584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E8C878"/>
                </a:solidFill>
              </a:rPr>
              <a:t>Output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532120" y="2212848"/>
            <a:ext cx="2377440" cy="310896"/>
          </a:xfrm>
          <a:prstGeom prst="rect">
            <a:avLst/>
          </a:prstGeom>
          <a:solidFill>
            <a:srgbClr val="5C3215"/>
          </a:solidFill>
          <a:ln w="12700">
            <a:solidFill>
              <a:srgbClr val="D0C0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77840" y="2212848"/>
            <a:ext cx="2304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E8C878"/>
                </a:solidFill>
              </a:rPr>
              <a:t>Tech Used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7909560" y="2212848"/>
            <a:ext cx="841248" cy="310896"/>
          </a:xfrm>
          <a:prstGeom prst="rect">
            <a:avLst/>
          </a:prstGeom>
          <a:solidFill>
            <a:srgbClr val="5C3215"/>
          </a:solidFill>
          <a:ln w="12700">
            <a:solidFill>
              <a:srgbClr val="D0C0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55280" y="2212848"/>
            <a:ext cx="768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20040" y="2523744"/>
            <a:ext cx="3200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C0A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2523744"/>
            <a:ext cx="246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C0804"/>
                </a:solidFill>
              </a:rPr>
              <a:t>01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40080" y="2523744"/>
            <a:ext cx="12344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C0A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2523744"/>
            <a:ext cx="11612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C0804"/>
                </a:solidFill>
              </a:rPr>
              <a:t>sitara coffee website pages login to exit pages…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1874520" y="2523744"/>
            <a:ext cx="3657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C0A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920240" y="2523744"/>
            <a:ext cx="3584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C0804"/>
                </a:solidFill>
              </a:rPr>
              <a:t>6-page website (Home/Menu/Order/Login/About/ThankYou)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532120" y="2523744"/>
            <a:ext cx="23774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C0A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77840" y="2523744"/>
            <a:ext cx="23042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C0804"/>
                </a:solidFill>
              </a:rPr>
              <a:t>HTML + CSS + JS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7909560" y="2523744"/>
            <a:ext cx="841248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C0A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955280" y="2523744"/>
            <a:ext cx="768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20040" y="2852928"/>
            <a:ext cx="320040" cy="329184"/>
          </a:xfrm>
          <a:prstGeom prst="rect">
            <a:avLst/>
          </a:prstGeom>
          <a:solidFill>
            <a:srgbClr val="F0E8D8"/>
          </a:solidFill>
          <a:ln w="12700">
            <a:solidFill>
              <a:srgbClr val="D0C0A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2852928"/>
            <a:ext cx="246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C0804"/>
                </a:solidFill>
              </a:rPr>
              <a:t>02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40080" y="2852928"/>
            <a:ext cx="1234440" cy="329184"/>
          </a:xfrm>
          <a:prstGeom prst="rect">
            <a:avLst/>
          </a:prstGeom>
          <a:solidFill>
            <a:srgbClr val="F0E8D8"/>
          </a:solidFill>
          <a:ln w="12700">
            <a:solidFill>
              <a:srgbClr val="D0C0A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5800" y="2852928"/>
            <a:ext cx="11612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C0804"/>
                </a:solidFill>
              </a:rPr>
              <a:t>folders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1874520" y="2852928"/>
            <a:ext cx="3657600" cy="329184"/>
          </a:xfrm>
          <a:prstGeom prst="rect">
            <a:avLst/>
          </a:prstGeom>
          <a:solidFill>
            <a:srgbClr val="F0E8D8"/>
          </a:solidFill>
          <a:ln w="12700">
            <a:solidFill>
              <a:srgbClr val="D0C0A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920240" y="2852928"/>
            <a:ext cx="3584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C0804"/>
                </a:solidFill>
              </a:rPr>
              <a:t>Clarification requested (ambiguous)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5532120" y="2852928"/>
            <a:ext cx="2377440" cy="329184"/>
          </a:xfrm>
          <a:prstGeom prst="rect">
            <a:avLst/>
          </a:prstGeom>
          <a:solidFill>
            <a:srgbClr val="F0E8D8"/>
          </a:solidFill>
          <a:ln w="12700">
            <a:solidFill>
              <a:srgbClr val="D0C0A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77840" y="2852928"/>
            <a:ext cx="23042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C0804"/>
                </a:solidFill>
              </a:rPr>
              <a:t>—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7909560" y="2852928"/>
            <a:ext cx="841248" cy="329184"/>
          </a:xfrm>
          <a:prstGeom prst="rect">
            <a:avLst/>
          </a:prstGeom>
          <a:solidFill>
            <a:srgbClr val="F0E8D8"/>
          </a:solidFill>
          <a:ln w="12700">
            <a:solidFill>
              <a:srgbClr val="D0C0A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955280" y="2852928"/>
            <a:ext cx="768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320040" y="3182112"/>
            <a:ext cx="3200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C0A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3182112"/>
            <a:ext cx="246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C0804"/>
                </a:solidFill>
              </a:rPr>
              <a:t>02b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40080" y="3182112"/>
            <a:ext cx="12344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C0A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5800" y="3182112"/>
            <a:ext cx="11612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C0804"/>
                </a:solidFill>
              </a:rPr>
              <a:t>files above website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1874520" y="3182112"/>
            <a:ext cx="3657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C0A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920240" y="3182112"/>
            <a:ext cx="3584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C0804"/>
                </a:solidFill>
              </a:rPr>
              <a:t>Structured folder: index.html + css/ + js/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5532120" y="3182112"/>
            <a:ext cx="23774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C0A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577840" y="3182112"/>
            <a:ext cx="23042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C0804"/>
                </a:solidFill>
              </a:rPr>
              <a:t>HTML + CSS + JS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7909560" y="3182112"/>
            <a:ext cx="841248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C0A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955280" y="3182112"/>
            <a:ext cx="768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320040" y="3511296"/>
            <a:ext cx="320040" cy="329184"/>
          </a:xfrm>
          <a:prstGeom prst="rect">
            <a:avLst/>
          </a:prstGeom>
          <a:solidFill>
            <a:srgbClr val="F0E8D8"/>
          </a:solidFill>
          <a:ln w="12700">
            <a:solidFill>
              <a:srgbClr val="D0C0A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65760" y="3511296"/>
            <a:ext cx="246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C0804"/>
                </a:solidFill>
              </a:rPr>
              <a:t>03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640080" y="3511296"/>
            <a:ext cx="1234440" cy="329184"/>
          </a:xfrm>
          <a:prstGeom prst="rect">
            <a:avLst/>
          </a:prstGeom>
          <a:solidFill>
            <a:srgbClr val="F0E8D8"/>
          </a:solidFill>
          <a:ln w="12700">
            <a:solidFill>
              <a:srgbClr val="D0C0A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85800" y="3511296"/>
            <a:ext cx="11612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C0804"/>
                </a:solidFill>
              </a:rPr>
              <a:t>add cart list and payment method mode also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1874520" y="3511296"/>
            <a:ext cx="3657600" cy="329184"/>
          </a:xfrm>
          <a:prstGeom prst="rect">
            <a:avLst/>
          </a:prstGeom>
          <a:solidFill>
            <a:srgbClr val="F0E8D8"/>
          </a:solidFill>
          <a:ln w="12700">
            <a:solidFill>
              <a:srgbClr val="D0C0A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920240" y="3511296"/>
            <a:ext cx="3584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C0804"/>
                </a:solidFill>
              </a:rPr>
              <a:t>Cart drawer, 4 payment modes, live totals, validation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5532120" y="3511296"/>
            <a:ext cx="2377440" cy="329184"/>
          </a:xfrm>
          <a:prstGeom prst="rect">
            <a:avLst/>
          </a:prstGeom>
          <a:solidFill>
            <a:srgbClr val="F0E8D8"/>
          </a:solidFill>
          <a:ln w="12700">
            <a:solidFill>
              <a:srgbClr val="D0C0A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577840" y="3511296"/>
            <a:ext cx="23042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C0804"/>
                </a:solidFill>
              </a:rPr>
              <a:t>HTML + CSS + JS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7909560" y="3511296"/>
            <a:ext cx="841248" cy="329184"/>
          </a:xfrm>
          <a:prstGeom prst="rect">
            <a:avLst/>
          </a:prstGeom>
          <a:solidFill>
            <a:srgbClr val="F0E8D8"/>
          </a:solidFill>
          <a:ln w="12700">
            <a:solidFill>
              <a:srgbClr val="D0C0A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955280" y="3511296"/>
            <a:ext cx="768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320040" y="3840480"/>
            <a:ext cx="3200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C0A8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65760" y="3840480"/>
            <a:ext cx="246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C0804"/>
                </a:solidFill>
              </a:rPr>
              <a:t>04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640080" y="3840480"/>
            <a:ext cx="12344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C0A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85800" y="3840480"/>
            <a:ext cx="11612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C0804"/>
                </a:solidFill>
              </a:rPr>
              <a:t>register , login , Menu → Add to cart → … Thank You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1874520" y="3840480"/>
            <a:ext cx="3657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C0A8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920240" y="3840480"/>
            <a:ext cx="3584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C0804"/>
                </a:solidFill>
              </a:rPr>
              <a:t>Complete 6-screen SPA with state management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5532120" y="3840480"/>
            <a:ext cx="23774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C0A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577840" y="3840480"/>
            <a:ext cx="23042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C0804"/>
                </a:solidFill>
              </a:rPr>
              <a:t>HTML + CSS + JS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7909560" y="3840480"/>
            <a:ext cx="841248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C0A8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955280" y="3840480"/>
            <a:ext cx="768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320040" y="4169664"/>
            <a:ext cx="320040" cy="329184"/>
          </a:xfrm>
          <a:prstGeom prst="rect">
            <a:avLst/>
          </a:prstGeom>
          <a:solidFill>
            <a:srgbClr val="F0E8D8"/>
          </a:solidFill>
          <a:ln w="12700">
            <a:solidFill>
              <a:srgbClr val="D0C0A8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65760" y="4169664"/>
            <a:ext cx="246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C0804"/>
                </a:solidFill>
              </a:rPr>
              <a:t>05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640080" y="4169664"/>
            <a:ext cx="1234440" cy="329184"/>
          </a:xfrm>
          <a:prstGeom prst="rect">
            <a:avLst/>
          </a:prstGeom>
          <a:solidFill>
            <a:srgbClr val="F0E8D8"/>
          </a:solidFill>
          <a:ln w="12700">
            <a:solidFill>
              <a:srgbClr val="D0C0A8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85800" y="4169664"/>
            <a:ext cx="11612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C0804"/>
                </a:solidFill>
              </a:rPr>
              <a:t>same ok sitara coffee flow but add [landing page content]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1874520" y="4169664"/>
            <a:ext cx="3657600" cy="329184"/>
          </a:xfrm>
          <a:prstGeom prst="rect">
            <a:avLst/>
          </a:prstGeom>
          <a:solidFill>
            <a:srgbClr val="F0E8D8"/>
          </a:solidFill>
          <a:ln w="12700">
            <a:solidFill>
              <a:srgbClr val="D0C0A8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1920240" y="4169664"/>
            <a:ext cx="3584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C0804"/>
                </a:solidFill>
              </a:rPr>
              <a:t>Full landing + ordering flow in one file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5532120" y="4169664"/>
            <a:ext cx="2377440" cy="329184"/>
          </a:xfrm>
          <a:prstGeom prst="rect">
            <a:avLst/>
          </a:prstGeom>
          <a:solidFill>
            <a:srgbClr val="F0E8D8"/>
          </a:solidFill>
          <a:ln w="12700">
            <a:solidFill>
              <a:srgbClr val="D0C0A8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577840" y="4169664"/>
            <a:ext cx="23042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C0804"/>
                </a:solidFill>
              </a:rPr>
              <a:t>HTML + CSS + JS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7909560" y="4169664"/>
            <a:ext cx="841248" cy="329184"/>
          </a:xfrm>
          <a:prstGeom prst="rect">
            <a:avLst/>
          </a:prstGeom>
          <a:solidFill>
            <a:srgbClr val="F0E8D8"/>
          </a:solidFill>
          <a:ln w="12700">
            <a:solidFill>
              <a:srgbClr val="D0C0A8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7955280" y="4169664"/>
            <a:ext cx="768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320040" y="4498848"/>
            <a:ext cx="3200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C0A8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365760" y="4498848"/>
            <a:ext cx="246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C0804"/>
                </a:solidFill>
              </a:rPr>
              <a:t>06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640080" y="4498848"/>
            <a:ext cx="12344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C0A8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85800" y="4498848"/>
            <a:ext cx="11612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C0804"/>
                </a:solidFill>
              </a:rPr>
              <a:t>All prompts used to generate the codes…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1874520" y="4498848"/>
            <a:ext cx="3657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C0A8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1920240" y="4498848"/>
            <a:ext cx="3584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C0804"/>
                </a:solidFill>
              </a:rPr>
              <a:t>This PowerPoint presentation (8 slides)</a:t>
            </a:r>
            <a:endParaRPr lang="en-US" sz="800" dirty="0"/>
          </a:p>
        </p:txBody>
      </p:sp>
      <p:sp>
        <p:nvSpPr>
          <p:cNvPr id="86" name="Shape 84"/>
          <p:cNvSpPr/>
          <p:nvPr/>
        </p:nvSpPr>
        <p:spPr>
          <a:xfrm>
            <a:off x="5532120" y="4498848"/>
            <a:ext cx="23774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C0A8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5577840" y="4498848"/>
            <a:ext cx="23042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C0804"/>
                </a:solidFill>
              </a:rPr>
              <a:t>PptxGenJS</a:t>
            </a:r>
            <a:endParaRPr lang="en-US" sz="800" dirty="0"/>
          </a:p>
        </p:txBody>
      </p:sp>
      <p:sp>
        <p:nvSpPr>
          <p:cNvPr id="88" name="Shape 86"/>
          <p:cNvSpPr/>
          <p:nvPr/>
        </p:nvSpPr>
        <p:spPr>
          <a:xfrm>
            <a:off x="7909560" y="4498848"/>
            <a:ext cx="841248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C0A8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7955280" y="4498848"/>
            <a:ext cx="768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90" name="Shape 88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2E1A0A"/>
          </a:solidFill>
          <a:ln w="12700">
            <a:solidFill>
              <a:srgbClr val="2E1A0A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274320" y="4864608"/>
            <a:ext cx="8595360" cy="278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8A7660"/>
                </a:solidFill>
              </a:rPr>
              <a:t>Sitara Coffee · Prompt Documentation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C080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B07D3A"/>
          </a:solidFill>
          <a:ln w="12700">
            <a:solidFill>
              <a:srgbClr val="B07D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89136" y="0"/>
            <a:ext cx="54864" cy="5143500"/>
          </a:xfrm>
          <a:prstGeom prst="rect">
            <a:avLst/>
          </a:prstGeom>
          <a:solidFill>
            <a:srgbClr val="B07D3A"/>
          </a:solidFill>
          <a:ln w="12700">
            <a:solidFill>
              <a:srgbClr val="B07D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07D3A"/>
          </a:solidFill>
          <a:ln w="12700">
            <a:solidFill>
              <a:srgbClr val="B07D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B07D3A"/>
          </a:solidFill>
          <a:ln w="12700">
            <a:solidFill>
              <a:srgbClr val="B07D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640080"/>
            <a:ext cx="9144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000000"/>
                </a:solidFill>
              </a:rPr>
              <a:t>☕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457200" y="19659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99A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Sitara Coffee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6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Every Cup Tells a Story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3246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8A7660"/>
                </a:solidFill>
              </a:rPr>
              <a:t>Est. 2018 · Chennai, India · hello@sitaracoffee.in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097280" y="3749040"/>
            <a:ext cx="1463040" cy="868680"/>
          </a:xfrm>
          <a:prstGeom prst="rect">
            <a:avLst/>
          </a:prstGeom>
          <a:solidFill>
            <a:srgbClr val="2E1A0A"/>
          </a:solidFill>
          <a:ln w="12700">
            <a:solidFill>
              <a:srgbClr val="B07D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97280" y="3776472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7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097280" y="422452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8A7660"/>
                </a:solidFill>
              </a:rPr>
              <a:t>Prompts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926080" y="3749040"/>
            <a:ext cx="1463040" cy="868680"/>
          </a:xfrm>
          <a:prstGeom prst="rect">
            <a:avLst/>
          </a:prstGeom>
          <a:solidFill>
            <a:srgbClr val="2E1A0A"/>
          </a:solidFill>
          <a:ln w="12700">
            <a:solidFill>
              <a:srgbClr val="B07D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926080" y="3776472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7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2926080" y="422452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8A7660"/>
                </a:solidFill>
              </a:rPr>
              <a:t>Slides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54880" y="3749040"/>
            <a:ext cx="1463040" cy="868680"/>
          </a:xfrm>
          <a:prstGeom prst="rect">
            <a:avLst/>
          </a:prstGeom>
          <a:solidFill>
            <a:srgbClr val="2E1A0A"/>
          </a:solidFill>
          <a:ln w="12700">
            <a:solidFill>
              <a:srgbClr val="B07D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54880" y="3776472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7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754880" y="422452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8A7660"/>
                </a:solidFill>
              </a:rPr>
              <a:t>Screens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583680" y="3749040"/>
            <a:ext cx="1463040" cy="868680"/>
          </a:xfrm>
          <a:prstGeom prst="rect">
            <a:avLst/>
          </a:prstGeom>
          <a:solidFill>
            <a:srgbClr val="2E1A0A"/>
          </a:solidFill>
          <a:ln w="12700">
            <a:solidFill>
              <a:srgbClr val="B07D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583680" y="3776472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7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583680" y="422452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8A7660"/>
                </a:solidFill>
              </a:rPr>
              <a:t>Complete App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Sitara Coffee — All Prompts Used</dc:title>
  <dc:subject>PptxGenJS Presentation</dc:subject>
  <dc:creator>PptxGenJS</dc:creator>
  <cp:lastModifiedBy>PptxGenJS</cp:lastModifiedBy>
  <cp:revision>1</cp:revision>
  <dcterms:created xsi:type="dcterms:W3CDTF">2026-04-04T13:58:38Z</dcterms:created>
  <dcterms:modified xsi:type="dcterms:W3CDTF">2026-04-04T13:58:38Z</dcterms:modified>
</cp:coreProperties>
</file>